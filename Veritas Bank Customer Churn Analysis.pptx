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43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59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6583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Customer Churn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Retention Patterns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a UK-Based Multinational Retail Bank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 •  Germany  •  France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5074920"/>
            <a:ext cx="2926080" cy="0"/>
          </a:xfrm>
          <a:prstGeom prst="line">
            <a:avLst/>
          </a:prstGeom>
          <a:noFill/>
          <a:ln w="254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5349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 •  Customer Churn Analysis Using Power BI
Prepared by: Emmanuel Sey Williams   |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Veritas Bank?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is a UK-headquartered retail bank established in the 1990s, with major operations across Germany and France. Over the past two decades the bank has grown its customer base to over 3 million, focusing on core retail offerings such as savings accounts, personal loans, debit/credit card services, and online banking.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London, Veritas Bank is known for its technology-driven approach, with strong online banking capabilities and regional service hubs across continental Europe — tailoring services to local regulatory and customer behaviour requirements in each of its three core markets.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78040" y="150876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6092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15819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0" y="19842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Established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260604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26791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3M+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38160" y="30815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370332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092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6092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38160" y="377647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38160" y="417880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Markets: UK, Germany, France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480060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60920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60920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38160" y="48737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38160" y="52760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Headquarters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is facing increased customer churn, and retention has become a growing challenge.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Intense Competition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pressure from neobanks and fintech startups drawing customers away with faster, cheaper digital experiences.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47672"/>
            <a:ext cx="502920" cy="502920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892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Declining Engagement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56248" y="24688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perceived decrease in customer engagement in the Germany and France markets specifically.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50792"/>
            <a:ext cx="502920" cy="502920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959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Targeted Retention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5720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retention strategies built on real behavioural insight, leaving at-risk customers untouched.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050792"/>
            <a:ext cx="502920" cy="502920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39959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Monitoring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56248" y="45720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real-time churn monitoring and customer segmentation makes it hard to respond proactively.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KEY FIELDS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44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/ LastName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95681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creditworthiness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76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Gender / Age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demographics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as a bank customer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5409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(£)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73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 held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393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 / ActiveMember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engagement flags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5137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05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 —  </a:t>
            </a: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indicator (target variable)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114300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4617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Microsoft Power BI  — dashboard development
▪  Power Query  — data cleaning &amp; transformation
▪  DAX Measures  — churn rate, segmentation logic
▪  Data Visualisation Best Practices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886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38587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Importation &amp; Setup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1422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data, run data quality checks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45445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45171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&amp; Feature Engineering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columns, churn analysis views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520293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5175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Dashboard Development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54589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demographic &amp; churn dashboards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Customer Demographics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the Power BI report: a full profile of the 10,000-customer base before any churn filtering.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2430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3911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697480" y="2039112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2430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723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97480" y="3072384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032504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2430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0565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7480" y="4105656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Score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065776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2430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389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 / 43%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513892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Split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52400" dist="38100" dir="5400000" algn="bl" rotWithShape="0">
              <a:srgbClr val="0B1030">
                <a:alpha val="45000"/>
              </a:srgbClr>
            </a:outerShdw>
          </a:effectLst>
        </p:spPr>
      </p:sp>
      <p:pic>
        <p:nvPicPr>
          <p:cNvPr id="17" name="Image 0" descr="dash_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94360"/>
            <a:ext cx="5303520" cy="39502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(57%) and the 30–49 age bracket dominate the base; the UK holds half of all customers, with Germany and France almost evenly split on the rest.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Churn Analysis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2A: churn filtered by country, product holding, age group and account balance.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1,385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697480" y="2057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26664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1810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 Balance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97480" y="311810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churn segment (829 customers)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87368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788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30–39 yrs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97480" y="417880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Highest-churn age group (490 customers)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48072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239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52395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in absolute terms, roughly in line with its larger customer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52400" dist="38100" dir="5400000" algn="bl" rotWithShape="0">
              <a:srgbClr val="0B1030">
                <a:alpha val="45000"/>
              </a:srgbClr>
            </a:outerShdw>
          </a:effectLst>
        </p:spPr>
      </p:sp>
      <p:pic>
        <p:nvPicPr>
          <p:cNvPr id="17" name="Image 0" descr="dash_page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94360"/>
            <a:ext cx="5303520" cy="39502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holding 1–2 products account for 95% of all churn — almost matching their share of the customer base, so product count alone is a weak predictor of churn here.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Churn Deep Dive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2B: churn filtered by active-member status and customer tenure.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697480" y="2057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churned customers were inactive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26664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1810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97480" y="311810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happens in years 3–8 of tenure (540 + 438 customers)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87368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788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6%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97480" y="417880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comes from 9–10-year customers — the most loyal group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48072"/>
            <a:ext cx="5394960" cy="941832"/>
          </a:xfrm>
          <a:prstGeom prst="roundRect">
            <a:avLst>
              <a:gd name="adj" fmla="val 6796"/>
            </a:avLst>
          </a:prstGeom>
          <a:solidFill>
            <a:srgbClr val="2430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239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52395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churned customers are aged 30–49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52400" dist="38100" dir="5400000" algn="bl" rotWithShape="0">
              <a:srgbClr val="0B1030">
                <a:alpha val="45000"/>
              </a:srgbClr>
            </a:outerShdw>
          </a:effectLst>
        </p:spPr>
      </p:sp>
      <p:pic>
        <p:nvPicPr>
          <p:cNvPr id="17" name="Image 0" descr="dash_page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94360"/>
            <a:ext cx="5303520" cy="39502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is the single strongest churn signal in this dataset — every churned customer had gone inactive first.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why Veritas Bank customers leave.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37360"/>
            <a:ext cx="512064" cy="512064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16550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Inactivity drives churn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09160" y="1655064"/>
            <a:ext cx="6537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churned customer was flagged inactive — the clearest early-warning signal available.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51760"/>
            <a:ext cx="512064" cy="512064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51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25694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Zero-balance accounts are highest-risk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569464"/>
            <a:ext cx="6537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829 of 1,385 churned customers (60%) held a £0 balance at the time they left.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5661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566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34838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mid-tenure window is critical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3483864"/>
            <a:ext cx="6537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churn happens between years 3 and 8; customers who reach year 9+ rarely leave.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4805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480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44752" y="43982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age group most exposed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4398264"/>
            <a:ext cx="6537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30–49 make up 68% of all churn, despite being the bank's biggest segment.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0B103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5394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394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44752" y="531266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churn tracks customer share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5312664"/>
            <a:ext cx="6537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UK, Germany and France churn roughly in proportion to their customer base — no single market is a standout outlier.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Bank  |  Customer Churn &amp; Retention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data-driven actions to reduce churn and strengthen retention.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proactive re-engagement campaigns that flag members as soon as they go inactive — before dormancy turns into churn.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£0-balance accounts with incentives such as fee waivers or savings promotions to rebuild engagement.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loyalty rewards on customers in years 3–8 of tenure, the critical window where most churn occurs.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6118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retention offers around the 30–49 age segment — e.g. mortgage, investment, and family-banking bundles.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2976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real-time Power BI churn dashboard bank-wide so account teams in all three markets can act early.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3B47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7150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Churn at Veritas Bank is driven less by geography or product count, and more by engagement — inactivity, low balances, and the mid-tenure relationship window. Targeted, proactive retention here offers the clearest path to reducing attrition.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62872" y="411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18644</TotalTime>
  <Words>1020</Words>
  <Application>Microsoft Office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emmanuel williams</cp:lastModifiedBy>
  <cp:revision>3</cp:revision>
  <dcterms:created xsi:type="dcterms:W3CDTF">2026-07-19T16:24:36Z</dcterms:created>
  <dcterms:modified xsi:type="dcterms:W3CDTF">2026-08-01T15:10:55Z</dcterms:modified>
</cp:coreProperties>
</file>